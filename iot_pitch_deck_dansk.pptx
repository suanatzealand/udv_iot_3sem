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822960"/>
            <a:ext cx="10881360" cy="0"/>
          </a:xfrm>
          <a:prstGeom prst="line">
            <a:avLst/>
          </a:prstGeom>
          <a:ln w="12700">
            <a:solidFill>
              <a:srgbClr val="283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5852160"/>
            <a:ext cx="10881360" cy="0"/>
          </a:xfrm>
          <a:prstGeom prst="line">
            <a:avLst/>
          </a:prstGeom>
          <a:ln w="12700">
            <a:solidFill>
              <a:srgbClr val="283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00584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37D2EB"/>
                </a:solidFill>
                <a:latin typeface="Aptos"/>
              </a:rPr>
              <a:t>IoT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81381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Kan I bygge et system,
der mærker verden – og viser data live?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40156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4B2C2"/>
                </a:solidFill>
                <a:latin typeface="Aptos"/>
              </a:rPr>
              <a:t>Raspberry Pi  →  MQTT  →  Azure  →  Grafana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1325880" cy="329184"/>
          </a:xfrm>
          <a:prstGeom prst="roundRect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69663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9"/>
                </a:solidFill>
                <a:latin typeface="Aptos"/>
              </a:rPr>
              <a:t>LIVE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4169663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Én sensorværdi. Hele vejen til et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143000"/>
            <a:ext cx="1600200" cy="91440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1143000"/>
            <a:ext cx="73152" cy="914400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1307592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Raspberry Pi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09760" y="1600200"/>
            <a:ext cx="201168" cy="0"/>
          </a:xfrm>
          <a:prstGeom prst="line">
            <a:avLst/>
          </a:prstGeom>
          <a:ln w="2794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38360" y="1143000"/>
            <a:ext cx="1600200" cy="91440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38360" y="1143000"/>
            <a:ext cx="73152" cy="914400"/>
          </a:xfrm>
          <a:prstGeom prst="rect">
            <a:avLst/>
          </a:prstGeom>
          <a:solidFill>
            <a:srgbClr val="FF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39528" y="1307592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MQTT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05088" y="2057400"/>
            <a:ext cx="0" cy="502920"/>
          </a:xfrm>
          <a:prstGeom prst="line">
            <a:avLst/>
          </a:prstGeom>
          <a:ln w="2794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09560" y="2651760"/>
            <a:ext cx="1600200" cy="91440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2651760"/>
            <a:ext cx="73152" cy="914400"/>
          </a:xfrm>
          <a:prstGeom prst="rect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0728" y="2816352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Azure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09760" y="3017520"/>
            <a:ext cx="201168" cy="0"/>
          </a:xfrm>
          <a:prstGeom prst="line">
            <a:avLst/>
          </a:prstGeom>
          <a:ln w="2794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38360" y="2651760"/>
            <a:ext cx="1600200" cy="91440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38360" y="2651760"/>
            <a:ext cx="73152" cy="914400"/>
          </a:xfrm>
          <a:prstGeom prst="rect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9528" y="2816352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Grafana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7492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B141"/>
                </a:solidFill>
                <a:latin typeface="Aptos"/>
              </a:rPr>
              <a:t>Spørgsmål til holdet: “Hvordan tror I, 23,7 °C ender på skærmen?”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2"/>
                </a:solidFill>
                <a:latin typeface="Aptos"/>
              </a:rPr>
              <a:t>IoT-lab • Raspberry Pi → MQTT → Azure → Grafana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2C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Det starter med én måling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2"/>
                </a:solidFill>
                <a:latin typeface="Aptos"/>
              </a:rPr>
              <a:t>Følg én enkelt datapakke gennem hele systemet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627632" cy="123444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73152" cy="1234440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313432"/>
            <a:ext cx="1261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23.7 °C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770632"/>
            <a:ext cx="126187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2"/>
                </a:solidFill>
                <a:latin typeface="Aptos"/>
              </a:rPr>
              <a:t>sensorværdi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2770632"/>
            <a:ext cx="292608" cy="0"/>
          </a:xfrm>
          <a:prstGeom prst="line">
            <a:avLst/>
          </a:prstGeom>
          <a:ln w="2286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41448" y="2148840"/>
            <a:ext cx="1627632" cy="123444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41448" y="2148840"/>
            <a:ext cx="73152" cy="1234440"/>
          </a:xfrm>
          <a:prstGeom prst="rect">
            <a:avLst/>
          </a:prstGeom>
          <a:solidFill>
            <a:srgbClr val="FF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6" y="2313432"/>
            <a:ext cx="1261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{"temp": 23.7}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2770632"/>
            <a:ext cx="126187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2"/>
                </a:solidFill>
                <a:latin typeface="Aptos"/>
              </a:rPr>
              <a:t>JSON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87368" y="2770632"/>
            <a:ext cx="292608" cy="0"/>
          </a:xfrm>
          <a:prstGeom prst="line">
            <a:avLst/>
          </a:prstGeom>
          <a:ln w="2286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79976" y="2148840"/>
            <a:ext cx="1627632" cy="123444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2148840"/>
            <a:ext cx="73152" cy="1234440"/>
          </a:xfrm>
          <a:prstGeom prst="rect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313432"/>
            <a:ext cx="1261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publish()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770632"/>
            <a:ext cx="126187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2"/>
                </a:solidFill>
                <a:latin typeface="Aptos"/>
              </a:rPr>
              <a:t>MQTT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25896" y="2770632"/>
            <a:ext cx="292608" cy="0"/>
          </a:xfrm>
          <a:prstGeom prst="line">
            <a:avLst/>
          </a:prstGeom>
          <a:ln w="2286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18504" y="2148840"/>
            <a:ext cx="1627632" cy="123444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8504" y="2148840"/>
            <a:ext cx="73152" cy="1234440"/>
          </a:xfrm>
          <a:prstGeom prst="rect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2313432"/>
            <a:ext cx="1261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IoT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770632"/>
            <a:ext cx="126187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2"/>
                </a:solidFill>
                <a:latin typeface="Aptos"/>
              </a:rPr>
              <a:t>Azure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64424" y="2770632"/>
            <a:ext cx="292608" cy="0"/>
          </a:xfrm>
          <a:prstGeom prst="line">
            <a:avLst/>
          </a:prstGeom>
          <a:ln w="2286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57032" y="2148840"/>
            <a:ext cx="1627632" cy="123444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57032" y="2148840"/>
            <a:ext cx="73152" cy="1234440"/>
          </a:xfrm>
          <a:prstGeom prst="rect">
            <a:avLst/>
          </a:prstGeom>
          <a:solidFill>
            <a:srgbClr val="FF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2313432"/>
            <a:ext cx="1261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query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770632"/>
            <a:ext cx="126187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2"/>
                </a:solidFill>
                <a:latin typeface="Aptos"/>
              </a:rPr>
              <a:t>KQL / data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902952" y="2770632"/>
            <a:ext cx="292608" cy="0"/>
          </a:xfrm>
          <a:prstGeom prst="line">
            <a:avLst/>
          </a:prstGeom>
          <a:ln w="2286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195560" y="2148840"/>
            <a:ext cx="1627632" cy="123444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95560" y="2148840"/>
            <a:ext cx="73152" cy="1234440"/>
          </a:xfrm>
          <a:prstGeom prst="rect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96728" y="2313432"/>
            <a:ext cx="1261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23.7 °C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96728" y="2770632"/>
            <a:ext cx="126187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2"/>
                </a:solidFill>
                <a:latin typeface="Aptos"/>
              </a:rPr>
              <a:t>Grafana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16052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Det spændende er ikke tallet.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590288"/>
            <a:ext cx="7132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7D2EB"/>
                </a:solidFill>
                <a:latin typeface="Aptos"/>
              </a:rPr>
              <a:t>Det spændende er, at I selv bygger hele rejsen.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2"/>
                </a:solidFill>
                <a:latin typeface="Aptos"/>
              </a:rPr>
              <a:t>IoT-lab • Raspberry Pi → MQTT → Azure → Grafana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2C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Det er dét, I skal bygge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2"/>
                </a:solidFill>
                <a:latin typeface="Aptos"/>
              </a:rPr>
              <a:t>Et end-to-end IoT-system – lag for lag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920240" cy="141732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73152" cy="1417320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221992"/>
            <a:ext cx="1554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Raspberry 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79192"/>
            <a:ext cx="155448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2"/>
                </a:solidFill>
                <a:latin typeface="Aptos"/>
              </a:rPr>
              <a:t>sensor / simulator
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057400"/>
            <a:ext cx="1600200" cy="141732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2057400"/>
            <a:ext cx="73152" cy="1417320"/>
          </a:xfrm>
          <a:prstGeom prst="rect">
            <a:avLst/>
          </a:prstGeom>
          <a:solidFill>
            <a:srgbClr val="FF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2221992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MQTT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2679192"/>
            <a:ext cx="12344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2"/>
                </a:solidFill>
                <a:latin typeface="Aptos"/>
              </a:rPr>
              <a:t>publish / subscribe
telemetri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057400"/>
            <a:ext cx="1965960" cy="141732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3480" y="2057400"/>
            <a:ext cx="73152" cy="1417320"/>
          </a:xfrm>
          <a:prstGeom prst="rect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2221992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Azure IoT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2679192"/>
            <a:ext cx="160020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2"/>
                </a:solidFill>
                <a:latin typeface="Aptos"/>
              </a:rPr>
              <a:t>device → cloud
TLS / identity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2057400"/>
            <a:ext cx="1600200" cy="141732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2057400"/>
            <a:ext cx="73152" cy="1417320"/>
          </a:xfrm>
          <a:prstGeom prst="rect">
            <a:avLst/>
          </a:prstGeom>
          <a:solidFill>
            <a:srgbClr val="FF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8" y="2221992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2679192"/>
            <a:ext cx="12344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2"/>
                </a:solidFill>
                <a:latin typeface="Aptos"/>
              </a:rPr>
              <a:t>ADX
KQL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057400"/>
            <a:ext cx="1965960" cy="141732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60" y="2057400"/>
            <a:ext cx="73152" cy="1417320"/>
          </a:xfrm>
          <a:prstGeom prst="rect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2221992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Grafana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679192"/>
            <a:ext cx="160020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2"/>
                </a:solidFill>
                <a:latin typeface="Aptos"/>
              </a:rPr>
              <a:t>dashboard
indsigt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60320" y="2770632"/>
            <a:ext cx="411480" cy="0"/>
          </a:xfrm>
          <a:prstGeom prst="line">
            <a:avLst/>
          </a:prstGeom>
          <a:ln w="2794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2770632"/>
            <a:ext cx="411480" cy="0"/>
          </a:xfrm>
          <a:prstGeom prst="line">
            <a:avLst/>
          </a:prstGeom>
          <a:ln w="2794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49440" y="2770632"/>
            <a:ext cx="502920" cy="0"/>
          </a:xfrm>
          <a:prstGeom prst="line">
            <a:avLst/>
          </a:prstGeom>
          <a:ln w="2794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52560" y="2770632"/>
            <a:ext cx="457200" cy="0"/>
          </a:xfrm>
          <a:prstGeom prst="line">
            <a:avLst/>
          </a:prstGeom>
          <a:ln w="2794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0120" y="4069080"/>
            <a:ext cx="10287000" cy="105156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431596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D2EB"/>
                </a:solidFill>
                <a:latin typeface="Aptos"/>
              </a:rPr>
              <a:t>Fysisk verden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427939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4B2C2"/>
                </a:solidFill>
                <a:latin typeface="Apto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431596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B141"/>
                </a:solidFill>
                <a:latin typeface="Aptos"/>
              </a:rPr>
              <a:t>Netværk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27939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4B2C2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31596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B91FF"/>
                </a:solidFill>
                <a:latin typeface="Aptos"/>
              </a:rPr>
              <a:t>Cloud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27939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4B2C2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3159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B141"/>
                </a:solidFill>
                <a:latin typeface="Aptos"/>
              </a:rPr>
              <a:t>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427939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4B2C2"/>
                </a:solidFill>
                <a:latin typeface="Apto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431596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BDC82"/>
                </a:solidFill>
                <a:latin typeface="Aptos"/>
              </a:rPr>
              <a:t>Beslutning / indsigt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2"/>
                </a:solidFill>
                <a:latin typeface="Aptos"/>
              </a:rPr>
              <a:t>IoT-lab • Raspberry Pi → MQTT → Azure → Grafana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2C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Hvor findes IoT i virkeligheden?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2"/>
                </a:solidFill>
                <a:latin typeface="Aptos"/>
              </a:rPr>
              <a:t>Det samme mønster går igen – bare med andre sensorer og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468880" cy="30632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0">
                <a:solidFill>
                  <a:srgbClr val="F5F8FC"/>
                </a:solidFill>
                <a:latin typeface="Aptos"/>
              </a:rPr>
              <a:t>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7D2EB"/>
                </a:solidFill>
                <a:latin typeface="Aptos"/>
              </a:rPr>
              <a:t>Industri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10128"/>
            <a:ext cx="1965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maskiner, vibrationer,
energiforbrug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526280"/>
            <a:ext cx="1828800" cy="64008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56432" y="1874519"/>
            <a:ext cx="2468880" cy="30632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2121408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0">
                <a:solidFill>
                  <a:srgbClr val="F5F8FC"/>
                </a:solidFill>
                <a:latin typeface="Aptos"/>
              </a:rPr>
              <a:t>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74320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B141"/>
                </a:solidFill>
                <a:latin typeface="Aptos"/>
              </a:rPr>
              <a:t>Transport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3310128"/>
            <a:ext cx="1965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position, temperatur,
vedligehold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2" y="4526280"/>
            <a:ext cx="1828800" cy="64008"/>
          </a:xfrm>
          <a:prstGeom prst="rect">
            <a:avLst/>
          </a:prstGeom>
          <a:solidFill>
            <a:srgbClr val="FF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2784" y="1874519"/>
            <a:ext cx="2468880" cy="30632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0">
                <a:solidFill>
                  <a:srgbClr val="F5F8FC"/>
                </a:solidFill>
                <a:latin typeface="Aptos"/>
              </a:rPr>
              <a:t>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74320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BDC82"/>
                </a:solidFill>
                <a:latin typeface="Aptos"/>
              </a:rPr>
              <a:t>Smart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310128"/>
            <a:ext cx="1965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lys, varme,
bevægelse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01384" y="4526280"/>
            <a:ext cx="1828800" cy="64008"/>
          </a:xfrm>
          <a:prstGeom prst="rect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89136" y="1874519"/>
            <a:ext cx="2468880" cy="30632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7736" y="2121408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0">
                <a:solidFill>
                  <a:srgbClr val="F5F8FC"/>
                </a:solidFill>
                <a:latin typeface="Aptos"/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274320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B91FF"/>
                </a:solidFill>
                <a:latin typeface="Aptos"/>
              </a:rPr>
              <a:t>Energi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3310128"/>
            <a:ext cx="1965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forbrug, produktion,
netværksbelastning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17736" y="4526280"/>
            <a:ext cx="1828800" cy="64008"/>
          </a:xfrm>
          <a:prstGeom prst="rect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9496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4B2C2"/>
                </a:solidFill>
                <a:latin typeface="Aptos"/>
              </a:rPr>
              <a:t>I dag: temperatur og fugtighed.  Senere: hvad som helst, der kan måles.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2"/>
                </a:solidFill>
                <a:latin typeface="Aptos"/>
              </a:rPr>
              <a:t>IoT-lab • Raspberry Pi → MQTT → Azure → Grafana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2C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MQTT: små beskeder, stor effekt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2"/>
                </a:solidFill>
                <a:latin typeface="Aptos"/>
              </a:rPr>
              <a:t>Publish / subscribe gør devices løst koblede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2971800" cy="338328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2EB"/>
                </a:solidFill>
                <a:latin typeface="Aptos"/>
              </a:rPr>
              <a:t>PUBLISHER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8FC"/>
                </a:solidFill>
                <a:latin typeface="Aptos"/>
              </a:rPr>
              <a:t>Raspberry 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546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4B2C2"/>
                </a:solidFill>
                <a:latin typeface="Aptos"/>
              </a:rPr>
              <a:t>Sender: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02152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37D2EB"/>
                </a:solidFill>
                <a:latin typeface="Aptos"/>
              </a:rPr>
              <a:t>23.7 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2452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2"/>
                </a:solidFill>
                <a:latin typeface="Aptos"/>
              </a:rPr>
              <a:t>topic: iot/rpi-01/telemetry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148840"/>
            <a:ext cx="3291840" cy="246888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5146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141"/>
                </a:solidFill>
                <a:latin typeface="Aptos"/>
              </a:rPr>
              <a:t>MQTT BROKER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718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8FC"/>
                </a:solidFill>
                <a:latin typeface="Aptos"/>
              </a:rPr>
              <a:t>“Postkontoret”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576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4B2C2"/>
                </a:solidFill>
                <a:latin typeface="Aptos"/>
              </a:rPr>
              <a:t>modtager → router → leverer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29000" cy="338328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65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DC82"/>
                </a:solidFill>
                <a:latin typeface="Aptos"/>
              </a:rPr>
              <a:t>SUBSCRIBER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2316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8FC"/>
                </a:solidFill>
                <a:latin typeface="Aptos"/>
              </a:rPr>
              <a:t>Azure /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546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4B2C2"/>
                </a:solidFill>
                <a:latin typeface="Aptos"/>
              </a:rPr>
              <a:t>lytter på: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52044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BDC82"/>
                </a:solidFill>
                <a:latin typeface="Aptos"/>
              </a:rPr>
              <a:t>iot/rpi-01/telemetry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Samme data kan bruges af flere modtagere.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57600" y="3383280"/>
            <a:ext cx="594360" cy="0"/>
          </a:xfrm>
          <a:prstGeom prst="line">
            <a:avLst/>
          </a:prstGeom>
          <a:ln w="2794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3800" y="3383280"/>
            <a:ext cx="502920" cy="0"/>
          </a:xfrm>
          <a:prstGeom prst="line">
            <a:avLst/>
          </a:prstGeom>
          <a:ln w="2794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2"/>
                </a:solidFill>
                <a:latin typeface="Aptos"/>
              </a:rPr>
              <a:t>IoT-lab • Raspberry Pi → MQTT → Azure → Grafana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2C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Hvad hvis 1 Raspberry Pi bliver til 10.000?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2"/>
                </a:solidFill>
                <a:latin typeface="Aptos"/>
              </a:rPr>
              <a:t>Her bliver IoT interessant: identitet, sikkerhed, skala og drift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920240" cy="118872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73152" cy="1188720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93392"/>
            <a:ext cx="1554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1 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450592"/>
            <a:ext cx="1554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2"/>
                </a:solidFill>
                <a:latin typeface="Aptos"/>
              </a:rPr>
              <a:t>nemt at overskue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828800"/>
            <a:ext cx="2468880" cy="118872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828800"/>
            <a:ext cx="73152" cy="1188720"/>
          </a:xfrm>
          <a:prstGeom prst="rect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1993392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Azure IoT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450592"/>
            <a:ext cx="2103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2"/>
                </a:solidFill>
                <a:latin typeface="Aptos"/>
              </a:rPr>
              <a:t>samler devices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417320"/>
            <a:ext cx="3749039" cy="21031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Aptos"/>
              </a:rPr>
              <a:t>100 → 1.000 → 10.000+</a:t>
            </a:r>
          </a:p>
        </p:txBody>
      </p:sp>
      <p:sp>
        <p:nvSpPr>
          <p:cNvPr id="15" name="Oval 14"/>
          <p:cNvSpPr/>
          <p:nvPr/>
        </p:nvSpPr>
        <p:spPr>
          <a:xfrm>
            <a:off x="7818120" y="2395728"/>
            <a:ext cx="201168" cy="201168"/>
          </a:xfrm>
          <a:prstGeom prst="ellipse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85048" y="2395728"/>
            <a:ext cx="201168" cy="201168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51976" y="2395728"/>
            <a:ext cx="201168" cy="201168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18904" y="2395728"/>
            <a:ext cx="201168" cy="201168"/>
          </a:xfrm>
          <a:prstGeom prst="ellipse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85832" y="2395728"/>
            <a:ext cx="201168" cy="201168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18120" y="2743200"/>
            <a:ext cx="201168" cy="201168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85048" y="2743200"/>
            <a:ext cx="201168" cy="201168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51976" y="2743200"/>
            <a:ext cx="201168" cy="201168"/>
          </a:xfrm>
          <a:prstGeom prst="ellipse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18904" y="2743200"/>
            <a:ext cx="201168" cy="201168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85832" y="2743200"/>
            <a:ext cx="201168" cy="201168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18120" y="3090672"/>
            <a:ext cx="201168" cy="201168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85048" y="3090672"/>
            <a:ext cx="201168" cy="201168"/>
          </a:xfrm>
          <a:prstGeom prst="ellipse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51976" y="3090672"/>
            <a:ext cx="201168" cy="201168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18904" y="3090672"/>
            <a:ext cx="201168" cy="201168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85832" y="3090672"/>
            <a:ext cx="201168" cy="201168"/>
          </a:xfrm>
          <a:prstGeom prst="ellipse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2743200" y="2423160"/>
            <a:ext cx="914400" cy="0"/>
          </a:xfrm>
          <a:prstGeom prst="line">
            <a:avLst/>
          </a:prstGeom>
          <a:ln w="2794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126480" y="2423160"/>
            <a:ext cx="1325880" cy="0"/>
          </a:xfrm>
          <a:prstGeom prst="line">
            <a:avLst/>
          </a:prstGeom>
          <a:ln w="2794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" y="3977639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D2EB"/>
                </a:solidFill>
                <a:latin typeface="Aptos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39593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Identitet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395935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2"/>
                </a:solidFill>
                <a:latin typeface="Aptos"/>
              </a:rPr>
              <a:t>Hvem er device?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79" y="3977639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B141"/>
                </a:solidFill>
                <a:latin typeface="Aptos"/>
              </a:rP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19" y="39593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Sikkerhed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95935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2"/>
                </a:solidFill>
                <a:latin typeface="Aptos"/>
              </a:rPr>
              <a:t>Hvem må sende?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89204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B91FF"/>
                </a:solidFill>
                <a:latin typeface="Aptos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8737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Skala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487375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2"/>
                </a:solidFill>
                <a:latin typeface="Aptos"/>
              </a:rPr>
              <a:t>Hvordan håndterer vi mange?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79" y="489204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BDC82"/>
                </a:solidFill>
                <a:latin typeface="Aptos"/>
              </a:rP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19" y="48737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Drift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87375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2"/>
                </a:solidFill>
                <a:latin typeface="Aptos"/>
              </a:rPr>
              <a:t>Hvad gør vi, når noget fejler?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2"/>
                </a:solidFill>
                <a:latin typeface="Aptos"/>
              </a:rPr>
              <a:t>IoT-lab • Raspberry Pi → MQTT → Azure → Grafana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2C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Data er først interessante, når vi kan se dem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2"/>
                </a:solidFill>
                <a:latin typeface="Aptos"/>
              </a:rPr>
              <a:t>Sådan kan jeres slutprodukt se ud</a:t>
            </a:r>
          </a:p>
        </p:txBody>
      </p:sp>
      <p:pic>
        <p:nvPicPr>
          <p:cNvPr id="5" name="Picture 4" descr="wide_dark_themed_dashboard_ui_screenshot_graf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27080" cy="728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2"/>
                </a:solidFill>
                <a:latin typeface="Aptos"/>
              </a:rPr>
              <a:t>IoT-lab • Raspberry Pi → MQTT → Azure → Grafana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2C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I bygger det lag for 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2"/>
                </a:solidFill>
                <a:latin typeface="Aptos"/>
              </a:rPr>
              <a:t>Ingen grund til at forstå hele stacken på én gang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417320"/>
            <a:ext cx="530352" cy="530352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53896"/>
            <a:ext cx="530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F19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08176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08176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2C2"/>
                </a:solidFill>
                <a:latin typeface="Aptos"/>
              </a:rPr>
              <a:t>Raspberry Pi + sensor/simulator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42415" y="1956816"/>
            <a:ext cx="0" cy="301752"/>
          </a:xfrm>
          <a:prstGeom prst="line">
            <a:avLst/>
          </a:prstGeom>
          <a:ln w="17780">
            <a:solidFill>
              <a:srgbClr val="283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77240" y="2313432"/>
            <a:ext cx="530352" cy="530352"/>
          </a:xfrm>
          <a:prstGeom prst="ellipse">
            <a:avLst/>
          </a:prstGeom>
          <a:solidFill>
            <a:srgbClr val="FF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50008"/>
            <a:ext cx="530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F19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0428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Netværk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04288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2C2"/>
                </a:solidFill>
                <a:latin typeface="Aptos"/>
              </a:rPr>
              <a:t>MQTT + topics + forbindelser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2415" y="2852928"/>
            <a:ext cx="0" cy="301752"/>
          </a:xfrm>
          <a:prstGeom prst="line">
            <a:avLst/>
          </a:prstGeom>
          <a:ln w="17780">
            <a:solidFill>
              <a:srgbClr val="283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77240" y="3209544"/>
            <a:ext cx="530352" cy="530352"/>
          </a:xfrm>
          <a:prstGeom prst="ellipse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46120"/>
            <a:ext cx="530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F19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004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20040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2C2"/>
                </a:solidFill>
                <a:latin typeface="Aptos"/>
              </a:rPr>
              <a:t>Azure IoT Hub + device identity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42415" y="3749039"/>
            <a:ext cx="0" cy="301752"/>
          </a:xfrm>
          <a:prstGeom prst="line">
            <a:avLst/>
          </a:prstGeom>
          <a:ln w="17780">
            <a:solidFill>
              <a:srgbClr val="283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77240" y="4105656"/>
            <a:ext cx="530352" cy="530352"/>
          </a:xfrm>
          <a:prstGeom prst="ellipse">
            <a:avLst/>
          </a:prstGeom>
          <a:solidFill>
            <a:srgbClr val="FF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42232"/>
            <a:ext cx="530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F19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9651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096512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2C2"/>
                </a:solidFill>
                <a:latin typeface="Aptos"/>
              </a:rPr>
              <a:t>ADX + KQL + struktur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42415" y="4645152"/>
            <a:ext cx="0" cy="301752"/>
          </a:xfrm>
          <a:prstGeom prst="line">
            <a:avLst/>
          </a:prstGeom>
          <a:ln w="17780">
            <a:solidFill>
              <a:srgbClr val="283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77240" y="5001768"/>
            <a:ext cx="530352" cy="530352"/>
          </a:xfrm>
          <a:prstGeom prst="ellipse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38344"/>
            <a:ext cx="530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F19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992624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Visualisering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992624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2C2"/>
                </a:solidFill>
                <a:latin typeface="Aptos"/>
              </a:rPr>
              <a:t>Grafana +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5349240"/>
            <a:ext cx="2743200" cy="50292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545896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BDC82"/>
                </a:solidFill>
                <a:latin typeface="Aptos"/>
              </a:rPr>
              <a:t>Ét lag → test → næste lag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2"/>
                </a:solidFill>
                <a:latin typeface="Aptos"/>
              </a:rPr>
              <a:t>IoT-lab • Raspberry Pi → MQTT → Azure → Grafana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2C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Det bliver ikke bare copy/paste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2"/>
                </a:solidFill>
                <a:latin typeface="Aptos"/>
              </a:rPr>
              <a:t>Når grundsystemet virker, begynder den sjove 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3429000" cy="16916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5528" y="1783080"/>
            <a:ext cx="502920" cy="329184"/>
          </a:xfrm>
          <a:prstGeom prst="round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92224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9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6479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Find gennemsnittet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04872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2"/>
                </a:solidFill>
                <a:latin typeface="Aptos"/>
              </a:rPr>
              <a:t>Hvad er temperaturen over 10 min?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16916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0288" y="1783080"/>
            <a:ext cx="502920" cy="329184"/>
          </a:xfrm>
          <a:prstGeom prst="roundRect">
            <a:avLst/>
          </a:prstGeom>
          <a:solidFill>
            <a:srgbClr val="FF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9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76479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Lav en alarm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04872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2"/>
                </a:solidFill>
                <a:latin typeface="Aptos"/>
              </a:rPr>
              <a:t>Hvornår skal dashboardet reagere?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600200"/>
            <a:ext cx="3429000" cy="16916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85048" y="1783080"/>
            <a:ext cx="502920" cy="329184"/>
          </a:xfrm>
          <a:prstGeom prst="roundRect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792224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9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76479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Byg dit eget panel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404872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2"/>
                </a:solidFill>
                <a:latin typeface="Aptos"/>
              </a:rPr>
              <a:t>Hvilke data vil du vise?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749039"/>
            <a:ext cx="3429000" cy="16916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931920"/>
            <a:ext cx="502920" cy="329184"/>
          </a:xfrm>
          <a:prstGeom prst="roundRect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941063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9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1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Tilføj en rigtig sensor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553712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2"/>
                </a:solidFill>
                <a:latin typeface="Aptos"/>
              </a:rPr>
              <a:t>Kan I erstatte simulatoren?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49039"/>
            <a:ext cx="3429000" cy="16916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90288" y="3931920"/>
            <a:ext cx="502920" cy="329184"/>
          </a:xfrm>
          <a:prstGeom prst="roundRect">
            <a:avLst/>
          </a:prstGeom>
          <a:solidFill>
            <a:srgbClr val="F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3941063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9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913631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Tænk som en driftstekniker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553712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2"/>
                </a:solidFill>
                <a:latin typeface="Aptos"/>
              </a:rPr>
              <a:t>Hvad sker der, hvis forbindelsen ryger?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2"/>
                </a:solidFill>
                <a:latin typeface="Aptos"/>
              </a:rPr>
              <a:t>IoT-lab • Raspberry Pi → MQTT → Azure → Grafana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2C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Fejl er en del af systemet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2"/>
                </a:solidFill>
                <a:latin typeface="Aptos"/>
              </a:rPr>
              <a:t>Det er ikke et nederlag – det er dér, I lærer at debugge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11680"/>
            <a:ext cx="914400" cy="914400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F19"/>
                </a:solidFill>
                <a:latin typeface="Aptos"/>
              </a:rPr>
              <a:t>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64208" y="2468880"/>
            <a:ext cx="850392" cy="0"/>
          </a:xfrm>
          <a:prstGeom prst="line">
            <a:avLst/>
          </a:prstGeom>
          <a:ln w="2286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606039" y="2011680"/>
            <a:ext cx="914400" cy="914400"/>
          </a:xfrm>
          <a:prstGeom prst="ellipse">
            <a:avLst/>
          </a:prstGeom>
          <a:solidFill>
            <a:srgbClr val="FF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2677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F19"/>
                </a:solidFill>
                <a:latin typeface="Aptos"/>
              </a:rPr>
              <a:t>Wi‑Fi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38727" y="2468880"/>
            <a:ext cx="850393" cy="0"/>
          </a:xfrm>
          <a:prstGeom prst="line">
            <a:avLst/>
          </a:prstGeom>
          <a:ln w="2286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480559" y="2011680"/>
            <a:ext cx="914400" cy="914400"/>
          </a:xfrm>
          <a:prstGeom prst="ellipse">
            <a:avLst/>
          </a:prstGeom>
          <a:solidFill>
            <a:srgbClr val="FF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2677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F19"/>
                </a:solidFill>
                <a:latin typeface="Aptos"/>
              </a:rPr>
              <a:t>MQTT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13248" y="2468880"/>
            <a:ext cx="850392" cy="0"/>
          </a:xfrm>
          <a:prstGeom prst="line">
            <a:avLst/>
          </a:prstGeom>
          <a:ln w="2286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355079" y="2011680"/>
            <a:ext cx="914400" cy="914400"/>
          </a:xfrm>
          <a:prstGeom prst="ellipse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22677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F19"/>
                </a:solidFill>
                <a:latin typeface="Aptos"/>
              </a:rPr>
              <a:t>Azure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87767" y="2468880"/>
            <a:ext cx="850392" cy="0"/>
          </a:xfrm>
          <a:prstGeom prst="line">
            <a:avLst/>
          </a:prstGeom>
          <a:ln w="2286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229600" y="2011680"/>
            <a:ext cx="914400" cy="914400"/>
          </a:xfrm>
          <a:prstGeom prst="ellipse">
            <a:avLst/>
          </a:prstGeom>
          <a:solidFill>
            <a:srgbClr val="FF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2677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F19"/>
                </a:solidFill>
                <a:latin typeface="Aptos"/>
              </a:rPr>
              <a:t>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62288" y="2468880"/>
            <a:ext cx="850392" cy="0"/>
          </a:xfrm>
          <a:prstGeom prst="line">
            <a:avLst/>
          </a:prstGeom>
          <a:ln w="2286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104120" y="2011680"/>
            <a:ext cx="914400" cy="914400"/>
          </a:xfrm>
          <a:prstGeom prst="ellipse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22677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F19"/>
                </a:solidFill>
                <a:latin typeface="Aptos"/>
              </a:rPr>
              <a:t>Grafana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794760"/>
            <a:ext cx="10287000" cy="11430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04164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Når grafen er tom, spørger vi: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005072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D2EB"/>
                </a:solidFill>
                <a:latin typeface="Aptos"/>
              </a:rPr>
              <a:t>“Hvor i kæden stoppede datapakken?”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89204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4B2C2"/>
                </a:solidFill>
                <a:latin typeface="Aptos"/>
              </a:rPr>
              <a:t>Det er præcis den tankegang, rigtige IoT-systemer kræver.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2"/>
                </a:solidFill>
                <a:latin typeface="Aptos"/>
              </a:rPr>
              <a:t>IoT-lab • Raspberry Pi → MQTT → Azure → Grafana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2C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Hvad lærer I faktisk?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2"/>
                </a:solidFill>
                <a:latin typeface="Aptos"/>
              </a:rPr>
              <a:t>Det her er mere end “at få en sensor til at virke”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105156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D2EB"/>
                </a:solidFill>
                <a:latin typeface="Aptos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572768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57276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2"/>
                </a:solidFill>
                <a:latin typeface="Aptos"/>
              </a:rPr>
              <a:t>arbejde med Raspberry Pi og sensorer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074920" cy="105156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373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141"/>
                </a:solidFill>
                <a:latin typeface="Apto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1572768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Netværk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57276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2"/>
                </a:solidFill>
                <a:latin typeface="Aptos"/>
              </a:rPr>
              <a:t>MQTT, topics, payloads og forbindelser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34640"/>
            <a:ext cx="5074920" cy="105156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B91FF"/>
                </a:solidFill>
                <a:latin typeface="Apto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90088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99008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2"/>
                </a:solidFill>
                <a:latin typeface="Aptos"/>
              </a:rPr>
              <a:t>device identity og cloud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34640"/>
            <a:ext cx="5074920" cy="105156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1546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141"/>
                </a:solidFill>
                <a:latin typeface="Aptos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2990088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9008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2"/>
                </a:solidFill>
                <a:latin typeface="Aptos"/>
              </a:rPr>
              <a:t>struktur, queries og tidsserier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51960"/>
            <a:ext cx="5074920" cy="105156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BDC82"/>
                </a:solidFill>
                <a:latin typeface="Aptos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07408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Visualisering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40740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2"/>
                </a:solidFill>
                <a:latin typeface="Aptos"/>
              </a:rPr>
              <a:t>dashboards, trends og alarmer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251960"/>
            <a:ext cx="5074920" cy="105156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5720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D2EB"/>
                </a:solidFill>
                <a:latin typeface="Aptos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4407408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Systemtænkning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40740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2"/>
                </a:solidFill>
                <a:latin typeface="Aptos"/>
              </a:rPr>
              <a:t>følg data hele vejen gennem en pipeline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5897880"/>
            <a:ext cx="8503920" cy="365760"/>
          </a:xfrm>
          <a:prstGeom prst="roundRect">
            <a:avLst/>
          </a:prstGeom>
          <a:solidFill>
            <a:srgbClr val="162435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5960" y="596188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4BDC82"/>
                </a:solidFill>
                <a:latin typeface="Aptos"/>
              </a:rPr>
              <a:t>Målet: kunne forklare og fejlfinde hele datarejsen.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2"/>
                </a:solidFill>
                <a:latin typeface="Aptos"/>
              </a:rPr>
              <a:t>IoT-lab • Raspberry Pi → MQTT → Azure → Grafana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2C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B141"/>
                </a:solidFill>
                <a:latin typeface="Aptos"/>
              </a:rPr>
              <a:t>MISSIONEN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81381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5F8FC"/>
                </a:solidFill>
                <a:latin typeface="Aptos"/>
              </a:rPr>
              <a:t>Byg et IoT-system,
der virker fra ende til ende.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4B2C2"/>
                </a:solidFill>
                <a:latin typeface="Aptos"/>
              </a:rPr>
              <a:t>Når I er færdige, skal I kunne: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747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BDC82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456432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måle eller simulere en værdi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13631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BDC82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895344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sende den over MQTT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52544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BDC82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334256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få den ind i Azure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9145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BDC82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773168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forespørge på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303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BDC82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212080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vise den live i Grafana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143000"/>
            <a:ext cx="3886200" cy="448056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28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1554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2C2"/>
                </a:solidFill>
                <a:latin typeface="Aptos"/>
              </a:rPr>
              <a:t>FROM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90195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37D2EB"/>
                </a:solidFill>
                <a:latin typeface="Aptos"/>
              </a:rPr>
              <a:t>23.7 °C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9680" y="2514600"/>
            <a:ext cx="914400" cy="0"/>
          </a:xfrm>
          <a:prstGeom prst="line">
            <a:avLst/>
          </a:prstGeom>
          <a:ln w="27940">
            <a:solidFill>
              <a:srgbClr val="A4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2011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2C2"/>
                </a:solidFill>
                <a:latin typeface="Aptos"/>
              </a:rPr>
              <a:t>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2331720"/>
            <a:ext cx="1097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4BDC82"/>
                </a:solidFill>
                <a:latin typeface="Aptos"/>
              </a:rPr>
              <a:t>LIVE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3749039"/>
            <a:ext cx="182880" cy="228600"/>
          </a:xfrm>
          <a:prstGeom prst="rect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66175" y="3630168"/>
            <a:ext cx="182880" cy="347472"/>
          </a:xfrm>
          <a:prstGeom prst="rect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77072" y="3703320"/>
            <a:ext cx="182880" cy="274320"/>
          </a:xfrm>
          <a:prstGeom prst="rect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7" y="3520439"/>
            <a:ext cx="182880" cy="457200"/>
          </a:xfrm>
          <a:prstGeom prst="rect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98863" y="3593591"/>
            <a:ext cx="182880" cy="384048"/>
          </a:xfrm>
          <a:prstGeom prst="rect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9759" y="3410711"/>
            <a:ext cx="182880" cy="566928"/>
          </a:xfrm>
          <a:prstGeom prst="rect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20655" y="3502151"/>
            <a:ext cx="182880" cy="475488"/>
          </a:xfrm>
          <a:prstGeom prst="rect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31552" y="3319272"/>
            <a:ext cx="182880" cy="658368"/>
          </a:xfrm>
          <a:prstGeom prst="rect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42448" y="3401568"/>
            <a:ext cx="182880" cy="576072"/>
          </a:xfrm>
          <a:prstGeom prst="rect">
            <a:avLst/>
          </a:prstGeom>
          <a:solidFill>
            <a:srgbClr val="4B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489204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4B2C2"/>
                </a:solidFill>
                <a:latin typeface="Aptos"/>
              </a:rPr>
              <a:t>Raspberry Pi → MQTT → Azure → Grafana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5806440"/>
            <a:ext cx="2468880" cy="329184"/>
          </a:xfrm>
          <a:prstGeom prst="round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5815583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9"/>
                </a:solidFill>
                <a:latin typeface="Aptos"/>
              </a:rPr>
              <a:t>LET'S 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2C2"/>
                </a:solidFill>
                <a:latin typeface="Aptos"/>
              </a:rPr>
              <a:t>IoT-lab • Raspberry Pi → MQTT → Azure → Grafana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2C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