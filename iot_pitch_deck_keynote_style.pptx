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DAF0"/>
                </a:solidFill>
                <a:latin typeface="Aptos Display"/>
              </a:rPr>
              <a:t>HVAD NU HVIS…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4124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6F9FC"/>
                </a:solidFill>
                <a:latin typeface="Aptos Display"/>
              </a:rPr>
              <a:t>I kunne se data
fra den virkelige verden
live på en skærm?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9776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9DACBE"/>
                </a:solidFill>
                <a:latin typeface="Aptos Display"/>
              </a:rPr>
              <a:t>Det er præcis det, vi skal bygge.</a:t>
            </a:r>
          </a:p>
        </p:txBody>
      </p:sp>
      <p:sp>
        <p:nvSpPr>
          <p:cNvPr id="6" name="Oval 5"/>
          <p:cNvSpPr/>
          <p:nvPr/>
        </p:nvSpPr>
        <p:spPr>
          <a:xfrm>
            <a:off x="9326880" y="1417320"/>
            <a:ext cx="685800" cy="685800"/>
          </a:xfrm>
          <a:prstGeom prst="ellipse">
            <a:avLst/>
          </a:prstGeom>
          <a:solidFill>
            <a:srgbClr val="40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78440" y="2331720"/>
            <a:ext cx="685800" cy="685800"/>
          </a:xfrm>
          <a:prstGeom prst="ellipse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3246120"/>
            <a:ext cx="685800" cy="685800"/>
          </a:xfrm>
          <a:prstGeom prst="ellipse">
            <a:avLst/>
          </a:prstGeom>
          <a:solidFill>
            <a:srgbClr val="54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78440" y="4160520"/>
            <a:ext cx="685800" cy="685800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674352" y="2103120"/>
            <a:ext cx="1024128" cy="228600"/>
          </a:xfrm>
          <a:prstGeom prst="line">
            <a:avLst/>
          </a:prstGeom>
          <a:ln w="25400">
            <a:solidFill>
              <a:srgbClr val="9DA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674352" y="3017520"/>
            <a:ext cx="1042416" cy="228600"/>
          </a:xfrm>
          <a:prstGeom prst="line">
            <a:avLst/>
          </a:prstGeom>
          <a:ln w="25400">
            <a:solidFill>
              <a:srgbClr val="9DA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74352" y="3931920"/>
            <a:ext cx="1042416" cy="228600"/>
          </a:xfrm>
          <a:prstGeom prst="line">
            <a:avLst/>
          </a:prstGeom>
          <a:ln w="25400">
            <a:solidFill>
              <a:srgbClr val="9DA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0" y="5486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0DAF0"/>
                </a:solidFill>
                <a:latin typeface="Aptos Display"/>
              </a:rPr>
              <a:t>Raspberry 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548"/>
                </a:solidFill>
                <a:latin typeface="Aptos Display"/>
              </a:rPr>
              <a:t>ÉN LILLE MÅLING.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40DAF0"/>
                </a:solidFill>
                <a:latin typeface="Aptos Display"/>
              </a:rPr>
              <a:t>23,7 °C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6F9FC"/>
                </a:solidFill>
                <a:latin typeface="Aptos Display"/>
              </a:rPr>
              <a:t>Det er alt, vi starter 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DACBE"/>
                </a:solidFill>
                <a:latin typeface="Aptos Display"/>
              </a:rPr>
              <a:t>Ingen cloud. Ingen Grafana.
Bare en værdi.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08760"/>
            <a:ext cx="3474720" cy="338328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87451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DACBE"/>
                </a:solidFill>
                <a:latin typeface="Aptos Display"/>
              </a:rPr>
              <a:t>TEMPERATUR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423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6F9FC"/>
                </a:solidFill>
                <a:latin typeface="Aptos Display"/>
              </a:rPr>
              <a:t>23,7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0DAF0"/>
                </a:solidFill>
                <a:latin typeface="Aptos Display"/>
              </a:rPr>
              <a:t>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0DAF0"/>
                </a:solidFill>
                <a:latin typeface="Aptos Display"/>
              </a:rPr>
              <a:t>Raspberry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493FF"/>
                </a:solidFill>
                <a:latin typeface="Aptos Display"/>
              </a:rPr>
              <a:t>SÅ FLYTTER VI 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>
                <a:solidFill>
                  <a:srgbClr val="F6F9FC"/>
                </a:solidFill>
                <a:latin typeface="Aptos Display"/>
              </a:rPr>
              <a:t>23,7 °C  →  ☁️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DACBE"/>
                </a:solidFill>
                <a:latin typeface="Aptos Display"/>
              </a:rPr>
              <a:t>Først fra device til 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03320"/>
            <a:ext cx="2971800" cy="123444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9136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6F9FC"/>
                </a:solidFill>
                <a:latin typeface="Aptos Display"/>
              </a:rPr>
              <a:t>Raspberry 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3434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0DAF0"/>
                </a:solidFill>
                <a:latin typeface="Aptos Display"/>
              </a:rPr>
              <a:t>måler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94759" y="4315968"/>
            <a:ext cx="640081" cy="0"/>
          </a:xfrm>
          <a:prstGeom prst="line">
            <a:avLst/>
          </a:prstGeom>
          <a:ln w="25400">
            <a:solidFill>
              <a:srgbClr val="9DA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80559" y="3703320"/>
            <a:ext cx="2971800" cy="123444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9136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6F9FC"/>
                </a:solidFill>
                <a:latin typeface="Aptos Display"/>
              </a:rPr>
              <a:t>MQTT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3434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B548"/>
                </a:solidFill>
                <a:latin typeface="Aptos Display"/>
              </a:rPr>
              <a:t>sender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79" y="4315968"/>
            <a:ext cx="640080" cy="0"/>
          </a:xfrm>
          <a:prstGeom prst="line">
            <a:avLst/>
          </a:prstGeom>
          <a:ln w="25400">
            <a:solidFill>
              <a:srgbClr val="9DA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79" y="3703320"/>
            <a:ext cx="2971800" cy="123444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39136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6F9FC"/>
                </a:solidFill>
                <a:latin typeface="Aptos Display"/>
              </a:rPr>
              <a:t>Azure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43434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493FF"/>
                </a:solidFill>
                <a:latin typeface="Aptos Display"/>
              </a:rPr>
              <a:t>modtager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548"/>
                </a:solidFill>
                <a:latin typeface="Aptos Display"/>
              </a:rPr>
              <a:t>MEN CLOUD ER IKKE MÅLET.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760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6F9FC"/>
                </a:solidFill>
                <a:latin typeface="Aptos Display"/>
              </a:rPr>
              <a:t>Vi vil kunne
SE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DACBE"/>
                </a:solidFill>
                <a:latin typeface="Aptos Display"/>
              </a:rPr>
              <a:t>Historik. Trends. Flere devices.
Og måske en alarm.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4572000" cy="406908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7830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DACBE"/>
                </a:solidFill>
                <a:latin typeface="Aptos Display"/>
              </a:rPr>
              <a:t>LIVE TEMPERATURE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0" y="2560320"/>
            <a:ext cx="3840480" cy="0"/>
          </a:xfrm>
          <a:prstGeom prst="line">
            <a:avLst/>
          </a:prstGeom>
          <a:ln w="1270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49440" y="3291840"/>
            <a:ext cx="3840480" cy="0"/>
          </a:xfrm>
          <a:prstGeom prst="line">
            <a:avLst/>
          </a:prstGeom>
          <a:ln w="1270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0" y="4023360"/>
            <a:ext cx="3840480" cy="0"/>
          </a:xfrm>
          <a:prstGeom prst="line">
            <a:avLst/>
          </a:prstGeom>
          <a:ln w="1270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440" y="4754880"/>
            <a:ext cx="3840480" cy="0"/>
          </a:xfrm>
          <a:prstGeom prst="line">
            <a:avLst/>
          </a:prstGeom>
          <a:ln w="1270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995160" y="4023360"/>
            <a:ext cx="411480" cy="228600"/>
          </a:xfrm>
          <a:prstGeom prst="line">
            <a:avLst/>
          </a:prstGeom>
          <a:ln w="38100">
            <a:solidFill>
              <a:srgbClr val="40D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4023360"/>
            <a:ext cx="411480" cy="137160"/>
          </a:xfrm>
          <a:prstGeom prst="line">
            <a:avLst/>
          </a:prstGeom>
          <a:ln w="38100">
            <a:solidFill>
              <a:srgbClr val="40D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818120" y="3611880"/>
            <a:ext cx="411480" cy="548640"/>
          </a:xfrm>
          <a:prstGeom prst="line">
            <a:avLst/>
          </a:prstGeom>
          <a:ln w="38100">
            <a:solidFill>
              <a:srgbClr val="40D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3611880"/>
            <a:ext cx="411480" cy="137159"/>
          </a:xfrm>
          <a:prstGeom prst="line">
            <a:avLst/>
          </a:prstGeom>
          <a:ln w="38100">
            <a:solidFill>
              <a:srgbClr val="40D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641080" y="3246120"/>
            <a:ext cx="411480" cy="502919"/>
          </a:xfrm>
          <a:prstGeom prst="line">
            <a:avLst/>
          </a:prstGeom>
          <a:ln w="38100">
            <a:solidFill>
              <a:srgbClr val="40D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52560" y="3246120"/>
            <a:ext cx="411480" cy="228600"/>
          </a:xfrm>
          <a:prstGeom prst="line">
            <a:avLst/>
          </a:prstGeom>
          <a:ln w="38100">
            <a:solidFill>
              <a:srgbClr val="40D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464040" y="2971800"/>
            <a:ext cx="411480" cy="502920"/>
          </a:xfrm>
          <a:prstGeom prst="line">
            <a:avLst/>
          </a:prstGeom>
          <a:ln w="38100">
            <a:solidFill>
              <a:srgbClr val="40D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75520" y="2971800"/>
            <a:ext cx="411480" cy="182880"/>
          </a:xfrm>
          <a:prstGeom prst="line">
            <a:avLst/>
          </a:prstGeom>
          <a:ln w="38100">
            <a:solidFill>
              <a:srgbClr val="40D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287000" y="2697480"/>
            <a:ext cx="411480" cy="457200"/>
          </a:xfrm>
          <a:prstGeom prst="line">
            <a:avLst/>
          </a:prstGeom>
          <a:ln w="38100">
            <a:solidFill>
              <a:srgbClr val="40D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0" y="49560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40DAF0"/>
                </a:solidFill>
                <a:latin typeface="Aptos Display"/>
              </a:rPr>
              <a:t>23,7 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E085"/>
                </a:solidFill>
                <a:latin typeface="Aptos Display"/>
              </a:rPr>
              <a:t>OG HER KOMMER GRAFANA.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772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6F9FC"/>
                </a:solidFill>
                <a:latin typeface="Aptos Display"/>
              </a:rPr>
              <a:t>Det er her,
data bliver interessante.</a:t>
            </a:r>
          </a:p>
        </p:txBody>
      </p:sp>
      <p:pic>
        <p:nvPicPr>
          <p:cNvPr id="5" name="Picture 4" descr="wide_dark_themed_dashboard_ui_screenshot_graf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514600"/>
            <a:ext cx="6400800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9718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DACBE"/>
                </a:solidFill>
                <a:latin typeface="Aptos Display"/>
              </a:rPr>
              <a:t>Et dashboard kan fortælle mere end et enkelt 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4FE085"/>
                </a:solidFill>
                <a:latin typeface="Aptos Display"/>
              </a:rPr>
              <a:t>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9FC"/>
                </a:solidFill>
                <a:latin typeface="Aptos Display"/>
              </a:rPr>
              <a:t>Hvad sker der lige nu?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DAF0"/>
                </a:solidFill>
                <a:latin typeface="Aptos Display"/>
              </a:rPr>
              <a:t>MEN HVAD ER DET EGENTLIG?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6F9FC"/>
                </a:solidFill>
                <a:latin typeface="Aptos Display"/>
              </a:rPr>
              <a:t>IoT er bare en
lang kæde af små idéer.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749039"/>
            <a:ext cx="1143000" cy="1143000"/>
          </a:xfrm>
          <a:prstGeom prst="ellipse">
            <a:avLst/>
          </a:prstGeom>
          <a:solidFill>
            <a:srgbClr val="40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33087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0B12"/>
                </a:solidFill>
                <a:latin typeface="Aptos Display"/>
              </a:rPr>
              <a:t>MÅL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93392" y="4315968"/>
            <a:ext cx="978408" cy="0"/>
          </a:xfrm>
          <a:prstGeom prst="line">
            <a:avLst/>
          </a:prstGeom>
          <a:ln w="25400">
            <a:solidFill>
              <a:srgbClr val="9DA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063240" y="3749039"/>
            <a:ext cx="1143000" cy="1143000"/>
          </a:xfrm>
          <a:prstGeom prst="ellipse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4133087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0B12"/>
                </a:solidFill>
                <a:latin typeface="Aptos Display"/>
              </a:rPr>
              <a:t>SEND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33672" y="4315968"/>
            <a:ext cx="978408" cy="0"/>
          </a:xfrm>
          <a:prstGeom prst="line">
            <a:avLst/>
          </a:prstGeom>
          <a:ln w="25400">
            <a:solidFill>
              <a:srgbClr val="9DA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303520" y="3749039"/>
            <a:ext cx="1143000" cy="1143000"/>
          </a:xfrm>
          <a:prstGeom prst="ellipse">
            <a:avLst/>
          </a:prstGeom>
          <a:solidFill>
            <a:srgbClr val="54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133087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0B12"/>
                </a:solidFill>
                <a:latin typeface="Aptos Display"/>
              </a:rPr>
              <a:t>MODTAG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73952" y="4315968"/>
            <a:ext cx="978408" cy="0"/>
          </a:xfrm>
          <a:prstGeom prst="line">
            <a:avLst/>
          </a:prstGeom>
          <a:ln w="25400">
            <a:solidFill>
              <a:srgbClr val="9DA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43800" y="3749039"/>
            <a:ext cx="1143000" cy="1143000"/>
          </a:xfrm>
          <a:prstGeom prst="ellipse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4133087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0B12"/>
                </a:solidFill>
                <a:latin typeface="Aptos Display"/>
              </a:rPr>
              <a:t>GEM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14232" y="4315968"/>
            <a:ext cx="978408" cy="0"/>
          </a:xfrm>
          <a:prstGeom prst="line">
            <a:avLst/>
          </a:prstGeom>
          <a:ln w="25400">
            <a:solidFill>
              <a:srgbClr val="9DA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784080" y="3749039"/>
            <a:ext cx="1143000" cy="1143000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4133087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0B12"/>
                </a:solidFill>
                <a:latin typeface="Aptos Display"/>
              </a:rPr>
              <a:t>VIS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DACBE"/>
                </a:solidFill>
                <a:latin typeface="Aptos Display"/>
              </a:rPr>
              <a:t>Vi bygger kæden én brik ad gangen.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DAF0"/>
                </a:solidFill>
                <a:latin typeface="Aptos Display"/>
              </a:rPr>
              <a:t>BRIK NR.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6F9FC"/>
                </a:solidFill>
                <a:latin typeface="Aptos Display"/>
              </a:rPr>
              <a:t>Raspberry 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DACBE"/>
                </a:solidFill>
                <a:latin typeface="Aptos Display"/>
              </a:rPr>
              <a:t>En lille computer.
En sensor – eller en simulator.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325880"/>
            <a:ext cx="3931920" cy="411480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0DAF0"/>
                </a:solidFill>
                <a:latin typeface="Aptos Display"/>
              </a:rP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423160"/>
            <a:ext cx="3108960" cy="128016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697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6F9FC"/>
                </a:solidFill>
                <a:latin typeface="Aptos Display"/>
              </a:rPr>
              <a:t>temperature = 23.7
publish(temperature)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E085"/>
                </a:solidFill>
                <a:latin typeface="Aptos Display"/>
              </a:rPr>
              <a:t>→ første datapakke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548"/>
                </a:solidFill>
                <a:latin typeface="Aptos Display"/>
              </a:rPr>
              <a:t>BRIK NR.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6F9FC"/>
                </a:solidFill>
                <a:latin typeface="Aptos Display"/>
              </a:rPr>
              <a:t>MQTT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DACBE"/>
                </a:solidFill>
                <a:latin typeface="Aptos Display"/>
              </a:rPr>
              <a:t>Et simpelt sprog for devices:
“Jeg har nye data.”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17320"/>
            <a:ext cx="4480560" cy="411480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548"/>
                </a:solidFill>
                <a:latin typeface="Aptos Display"/>
              </a:rPr>
              <a:t>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3317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0DAF0"/>
                </a:solidFill>
                <a:latin typeface="Aptos Display"/>
              </a:rPr>
              <a:t>23,7 °C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32520" y="3063240"/>
            <a:ext cx="914400" cy="0"/>
          </a:xfrm>
          <a:prstGeom prst="line">
            <a:avLst/>
          </a:prstGeom>
          <a:ln w="25400">
            <a:solidFill>
              <a:srgbClr val="9DA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E085"/>
                </a:solidFill>
                <a:latin typeface="Aptos Display"/>
              </a:rPr>
              <a:t>SUBSCRIBE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886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F9FC"/>
                </a:solidFill>
                <a:latin typeface="Aptos Display"/>
              </a:rPr>
              <a:t>Azure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754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ACBE"/>
                </a:solidFill>
                <a:latin typeface="Aptos Display"/>
              </a:rPr>
              <a:t>én besked → mange modtagere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493FF"/>
                </a:solidFill>
                <a:latin typeface="Aptos Display"/>
              </a:rPr>
              <a:t>BRIK NR.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6F9FC"/>
                </a:solidFill>
                <a:latin typeface="Aptos Display"/>
              </a:rPr>
              <a:t>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DACBE"/>
                </a:solidFill>
                <a:latin typeface="Aptos Display"/>
              </a:rPr>
              <a:t>Når én device bliver til mange,
skal systemet kunne holde styr på dem.</a:t>
            </a:r>
          </a:p>
        </p:txBody>
      </p:sp>
      <p:sp>
        <p:nvSpPr>
          <p:cNvPr id="6" name="Oval 5"/>
          <p:cNvSpPr/>
          <p:nvPr/>
        </p:nvSpPr>
        <p:spPr>
          <a:xfrm>
            <a:off x="6766560" y="1691640"/>
            <a:ext cx="438912" cy="438912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0" y="1691640"/>
            <a:ext cx="438912" cy="438912"/>
          </a:xfrm>
          <a:prstGeom prst="ellipse">
            <a:avLst/>
          </a:prstGeom>
          <a:solidFill>
            <a:srgbClr val="40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1691640"/>
            <a:ext cx="438912" cy="438912"/>
          </a:xfrm>
          <a:prstGeom prst="ellipse">
            <a:avLst/>
          </a:prstGeom>
          <a:solidFill>
            <a:srgbClr val="40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0" y="1691640"/>
            <a:ext cx="438912" cy="438912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2606040"/>
            <a:ext cx="438912" cy="438912"/>
          </a:xfrm>
          <a:prstGeom prst="ellipse">
            <a:avLst/>
          </a:prstGeom>
          <a:solidFill>
            <a:srgbClr val="40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0" y="2606040"/>
            <a:ext cx="438912" cy="438912"/>
          </a:xfrm>
          <a:prstGeom prst="ellipse">
            <a:avLst/>
          </a:prstGeom>
          <a:solidFill>
            <a:srgbClr val="40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0" y="2606040"/>
            <a:ext cx="438912" cy="438912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0" y="2606040"/>
            <a:ext cx="438912" cy="438912"/>
          </a:xfrm>
          <a:prstGeom prst="ellipse">
            <a:avLst/>
          </a:prstGeom>
          <a:solidFill>
            <a:srgbClr val="40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0" y="3520440"/>
            <a:ext cx="438912" cy="438912"/>
          </a:xfrm>
          <a:prstGeom prst="ellipse">
            <a:avLst/>
          </a:prstGeom>
          <a:solidFill>
            <a:srgbClr val="40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80960" y="3520440"/>
            <a:ext cx="438912" cy="438912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0" y="3520440"/>
            <a:ext cx="438912" cy="438912"/>
          </a:xfrm>
          <a:prstGeom prst="ellipse">
            <a:avLst/>
          </a:prstGeom>
          <a:solidFill>
            <a:srgbClr val="40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0" y="3520440"/>
            <a:ext cx="438912" cy="438912"/>
          </a:xfrm>
          <a:prstGeom prst="ellipse">
            <a:avLst/>
          </a:prstGeom>
          <a:solidFill>
            <a:srgbClr val="40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4572000"/>
            <a:ext cx="4114800" cy="68580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754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6F9FC"/>
                </a:solidFill>
                <a:latin typeface="Aptos Display"/>
              </a:rPr>
              <a:t>1 → 10 → 1000 devices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E085"/>
                </a:solidFill>
                <a:latin typeface="Aptos Display"/>
              </a:rPr>
              <a:t>OG SÅ KOMMER DET SJOVE.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6F9FC"/>
                </a:solidFill>
                <a:latin typeface="Aptos Display"/>
              </a:rPr>
              <a:t>“Hvad hvis…?”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FE085"/>
                </a:solidFill>
                <a:latin typeface="Aptos Display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6F9FC"/>
                </a:solidFill>
                <a:latin typeface="Aptos Display"/>
              </a:rPr>
              <a:t>Hvad hvis temperaturen bliver for høj?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FE085"/>
                </a:solidFill>
                <a:latin typeface="Aptos Display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200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6F9FC"/>
                </a:solidFill>
                <a:latin typeface="Aptos Display"/>
              </a:rPr>
              <a:t>Hvad hvis Wi‑Fi forsvinder?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FE085"/>
                </a:solidFill>
                <a:latin typeface="Aptos Display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8862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6F9FC"/>
                </a:solidFill>
                <a:latin typeface="Aptos Display"/>
              </a:rPr>
              <a:t>Hvad hvis vi har 100 devices?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FE085"/>
                </a:solidFill>
                <a:latin typeface="Aptos Display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572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6F9FC"/>
                </a:solidFill>
                <a:latin typeface="Aptos Display"/>
              </a:rPr>
              <a:t>Hvad hvis dashboardet skal alarmere?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B548"/>
                </a:solidFill>
                <a:latin typeface="Aptos Display"/>
              </a:rPr>
              <a:t>Her går vi fra tutorial → engineering.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DAF0"/>
                </a:solidFill>
                <a:latin typeface="Aptos Display"/>
              </a:rPr>
              <a:t>DET I FAKTISK LÆRER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29000" cy="141732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0DAF0"/>
                </a:solidFill>
                <a:latin typeface="Aptos Display"/>
              </a:rP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 Display"/>
              </a:rPr>
              <a:t>Raspberry Pi + sensorer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00200"/>
            <a:ext cx="3429000" cy="141732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548"/>
                </a:solidFill>
                <a:latin typeface="Aptos Display"/>
              </a:rPr>
              <a:t>NETVÆRK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31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 Display"/>
              </a:rPr>
              <a:t>MQTT + forbindelser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00200"/>
            <a:ext cx="3429000" cy="141732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493FF"/>
                </a:solidFill>
                <a:latin typeface="Aptos Display"/>
              </a:rPr>
              <a:t>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331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 Display"/>
              </a:rPr>
              <a:t>Azure + device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3429000" cy="141732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94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548"/>
                </a:solidFill>
                <a:latin typeface="Aptos Display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97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 Display"/>
              </a:rPr>
              <a:t>KQL + tidsserier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566160"/>
            <a:ext cx="3429000" cy="141732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794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E085"/>
                </a:solidFill>
                <a:latin typeface="Aptos Display"/>
              </a:rPr>
              <a:t>VISUAL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297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 Display"/>
              </a:rPr>
              <a:t>Grafana + 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566160"/>
            <a:ext cx="3429000" cy="141732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3794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0DAF0"/>
                </a:solidFill>
                <a:latin typeface="Aptos Display"/>
              </a:rPr>
              <a:t>DEBUG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297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F9FC"/>
                </a:solidFill>
                <a:latin typeface="Aptos Display"/>
              </a:rPr>
              <a:t>find hvor data stopper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DACBE"/>
                </a:solidFill>
                <a:latin typeface="Aptos Display"/>
              </a:rPr>
              <a:t>Det er én pipeline – men mange kompetencer.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548"/>
                </a:solidFill>
                <a:latin typeface="Aptos Display"/>
              </a:rPr>
              <a:t>MISSIONEN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6F9FC"/>
                </a:solidFill>
                <a:latin typeface="Aptos Display"/>
              </a:rPr>
              <a:t>Få én datapakke
hele vejen hjem.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0DAF0"/>
                </a:solidFill>
                <a:latin typeface="Aptos Display"/>
              </a:rPr>
              <a:t>Raspberry Pi  →  MQTT  →  Azure  →  Grafana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8853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0B12"/>
                </a:solidFill>
                <a:latin typeface="Aptos Display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6F9FC"/>
                </a:solidFill>
                <a:latin typeface="Aptos Display"/>
              </a:rPr>
              <a:t>Mål</a:t>
            </a:r>
          </a:p>
        </p:txBody>
      </p:sp>
      <p:sp>
        <p:nvSpPr>
          <p:cNvPr id="9" name="Oval 8"/>
          <p:cNvSpPr/>
          <p:nvPr/>
        </p:nvSpPr>
        <p:spPr>
          <a:xfrm>
            <a:off x="2926079" y="4160520"/>
            <a:ext cx="594360" cy="594360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428853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0B12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48920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6F9FC"/>
                </a:solidFill>
                <a:latin typeface="Aptos Display"/>
              </a:rPr>
              <a:t>Send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0" y="4160520"/>
            <a:ext cx="594360" cy="594360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28853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0B12"/>
                </a:solidFill>
                <a:latin typeface="Aptos Display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8920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6F9FC"/>
                </a:solidFill>
                <a:latin typeface="Aptos Display"/>
              </a:rPr>
              <a:t>Modtag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4160520"/>
            <a:ext cx="594360" cy="594360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428853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0B12"/>
                </a:solidFill>
                <a:latin typeface="Aptos Display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8920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6F9FC"/>
                </a:solidFill>
                <a:latin typeface="Aptos Display"/>
              </a:rPr>
              <a:t>Gem</a:t>
            </a:r>
          </a:p>
        </p:txBody>
      </p:sp>
      <p:sp>
        <p:nvSpPr>
          <p:cNvPr id="18" name="Oval 17"/>
          <p:cNvSpPr/>
          <p:nvPr/>
        </p:nvSpPr>
        <p:spPr>
          <a:xfrm>
            <a:off x="9235440" y="4160520"/>
            <a:ext cx="594360" cy="594360"/>
          </a:xfrm>
          <a:prstGeom prst="ellipse">
            <a:avLst/>
          </a:prstGeom>
          <a:solidFill>
            <a:srgbClr val="4FE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428853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0B12"/>
                </a:solidFill>
                <a:latin typeface="Aptos Display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48920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6F9FC"/>
                </a:solidFill>
                <a:latin typeface="Aptos Display"/>
              </a:rPr>
              <a:t>Vis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B548"/>
                </a:solidFill>
                <a:latin typeface="Aptos Display"/>
              </a:rPr>
              <a:t>Og bagefter: byg noget, vi ikke har vist jer.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DACBE"/>
                </a:solidFill>
                <a:latin typeface="Aptos Display"/>
              </a:rPr>
              <a:t>IoT • Raspberry Pi → MQTT → Azure →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8309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CBE"/>
                </a:solidFill>
                <a:latin typeface="Aptos Display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